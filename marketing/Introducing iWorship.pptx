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569a23-d31b-6b72-2520-5aca9096d98b}">
          <p14:sldIdLst>
            <p14:sldId id="256"/>
            <p14:sldId id="257"/>
          </p14:sldIdLst>
        </p14:section>
        <p14:section name="What’s Already Built" id="{ebc2f5cf-8727-0e3e-ab15-d4ced7c54518}">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Where We’re Headed" id="{5f6688c2-eb27-755f-dc1b-399ca6bd38ce}">
          <p14:sldIdLst>
            <p14:sldId id="274"/>
            <p14:sldId id="275"/>
            <p14:sldId id="276"/>
            <p14:sldId id="277"/>
          </p14:sldIdLst>
        </p14:section>
        <p14:section name="Getting Started" id="{23bf608f-2a69-0f24-8401-6dbec3a659e2}">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want to show you iWorship — an app we built for our church. In one sentence: it helps us sing together on Sunday and stay connected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churches use several tools: a songbook, PowerPoint for the projector, and group chats for announcements. iWorship puts all of that in one place. It already includes the King James Bible and the Tagalog Ang Dating Biblia, and it is free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is already working. Everything in this next section is live in the app right now — these are real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hymnal. Lyrics are big enough for our elders to read. Musicians can switch to Play Mode to see chords and change the key with one tap. Every church on iWorship shares the same growing song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host screen. One person controls the service from a phone or laptop. Whatever they choose shows on the projector and on everyone’s phone. People join by scanning a QR code — no typing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Church does not end when the service ends. Fellowship is like a small Facebook just for church members. You can post updates, share photos, and message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there is a new morning and evening devotional, free for everyone. It uses Charles Spurgeon’s classic Morning and Evening, which is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new believers or anyone curious about faith. It starts with the gospel, then walks them through simple lessons — assurance, baptism, joining a church. The journal is completely private; not even the pastor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newest features. When the pastor preaches, the app listens and shows the words on the projector. You can also turn on translation — here, Tagalog is shown on top and the English translation below. It helps members who are hard of hearing, and visitors who speak another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missed a Sunday, they can catch up here. The pastor chooses which sermons to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can post a prayer request — private, or shared with the church. Others tap “I’m praying.” When the prayer is answered, you can mark it answered. The latest requests also show on the home screen. (The names on this screen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members share answered prayers and good news. The most-loved stories are featured on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gives you a few chapters each day. Tap done, and your streak grows. If you miss a day, nothing is lost — you just continue from where you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musicians: open any song, tap Practice Mode, set the tempo, and play along. The lyrics scroll by themselves so you never have to touch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worship leader picks who plays or sings on each date. Each person sees their own schedule and confirms with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post upcoming events here, with the date, time, and place. Everyone can see what is coming up. (These events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can browse Bible studies and small groups, see when and where they meet, and join with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list of everyone in our church, so you can put a name to a face and reach out to new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few ideas for what could come next. These are not built yet — I would love your thoughts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could vote for songs they want to sing. The worship leader would still decide the final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Tagalog is in the Bible and in live translation. This idea would translate the whole app, so every member can use it in their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lighter version of the app for Sunday school and children’s church, so kids can follow along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I showed you in the first part is ready to use today. I am happy to help anyone get started, and I would love to hear which future ideas matter most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0F1C"/>
        </a:solidFill>
      </p:bgPr>
    </p:bg>
    <p:spTree>
      <p:nvGrpSpPr>
        <p:cNvPr id="1" name=""/>
        <p:cNvGrpSpPr/>
        <p:nvPr/>
      </p:nvGrpSpPr>
      <p:grpSpPr>
        <a:xfrm>
          <a:off x="0" y="0"/>
          <a:ext cx="0" cy="0"/>
          <a:chOff x="0" y="0"/>
          <a:chExt cx="0" cy="0"/>
        </a:xfrm>
      </p:grpSpPr>
      <p:sp>
        <p:nvSpPr>
          <p:cNvPr id="3" name="Text 0"/>
          <p:cNvSpPr txBox="1"/>
          <p:nvPr/>
        </p:nvSpPr>
        <p:spPr>
          <a:xfrm>
            <a:off x="813816" y="1828800"/>
            <a:ext cx="10561320" cy="365760"/>
          </a:xfrm>
          <a:prstGeom prst="rect">
            <a:avLst/>
          </a:prstGeom>
          <a:noFill/>
          <a:ln/>
        </p:spPr>
        <p:txBody>
          <a:bodyPr wrap="square" lIns="0" tIns="0" rIns="0" bIns="0" rtlCol="0" anchor="t"/>
          <a:lstStyle/>
          <a:p>
            <a:pPr indent="0" marL="0">
              <a:buNone/>
            </a:pPr>
            <a:r>
              <a:rPr lang="en-US" sz="1300" b="1" spc="400" kern="0" dirty="0">
                <a:solidFill>
                  <a:srgbClr val="E6C866"/>
                </a:solidFill>
                <a:latin typeface="Verdana" pitchFamily="34" charset="0"/>
                <a:ea typeface="Verdana" pitchFamily="34" charset="-122"/>
                <a:cs typeface="Verdana" pitchFamily="34" charset="-120"/>
              </a:rPr>
              <a:t>A NEW CHURCH APP</a:t>
            </a:r>
            <a:endParaRPr lang="en-US" sz="1300" dirty="0"/>
          </a:p>
        </p:txBody>
      </p:sp>
      <p:sp>
        <p:nvSpPr>
          <p:cNvPr id="4" name="Text 1"/>
          <p:cNvSpPr txBox="1"/>
          <p:nvPr/>
        </p:nvSpPr>
        <p:spPr>
          <a:xfrm>
            <a:off x="813816" y="2286000"/>
            <a:ext cx="10561320" cy="1371600"/>
          </a:xfrm>
          <a:prstGeom prst="rect">
            <a:avLst/>
          </a:prstGeom>
          <a:noFill/>
          <a:ln/>
        </p:spPr>
        <p:txBody>
          <a:bodyPr wrap="square" lIns="0" tIns="0" rIns="0" bIns="0" rtlCol="0" anchor="t"/>
          <a:lstStyle/>
          <a:p>
            <a:pPr indent="0" marL="0">
              <a:buNone/>
            </a:pPr>
            <a:r>
              <a:rPr lang="en-US" sz="5400" b="1" dirty="0">
                <a:solidFill>
                  <a:srgbClr val="F6EFDD"/>
                </a:solidFill>
                <a:latin typeface="Georgia" pitchFamily="34" charset="0"/>
                <a:ea typeface="Georgia" pitchFamily="34" charset="-122"/>
                <a:cs typeface="Georgia" pitchFamily="34" charset="-120"/>
              </a:rPr>
              <a:t>Introducing iWorship</a:t>
            </a:r>
            <a:endParaRPr lang="en-US" sz="5400" dirty="0"/>
          </a:p>
        </p:txBody>
      </p:sp>
      <p:sp>
        <p:nvSpPr>
          <p:cNvPr id="5" name="Text 2"/>
          <p:cNvSpPr txBox="1"/>
          <p:nvPr/>
        </p:nvSpPr>
        <p:spPr>
          <a:xfrm>
            <a:off x="813816" y="3703320"/>
            <a:ext cx="9235440" cy="1280160"/>
          </a:xfrm>
          <a:prstGeom prst="rect">
            <a:avLst/>
          </a:prstGeom>
          <a:noFill/>
          <a:ln/>
        </p:spPr>
        <p:txBody>
          <a:bodyPr wrap="square" lIns="0" tIns="0" rIns="0" bIns="0" rtlCol="0" anchor="t"/>
          <a:lstStyle/>
          <a:p>
            <a:pPr indent="0" marL="0">
              <a:lnSpc>
                <a:spcPct val="130000"/>
              </a:lnSpc>
              <a:buNone/>
            </a:pPr>
            <a:r>
              <a:rPr lang="en-US" sz="1800" dirty="0">
                <a:solidFill>
                  <a:srgbClr val="E8DFC9"/>
                </a:solidFill>
                <a:latin typeface="Verdana" pitchFamily="34" charset="0"/>
                <a:ea typeface="Verdana" pitchFamily="34" charset="-122"/>
                <a:cs typeface="Verdana" pitchFamily="34" charset="-120"/>
              </a:rPr>
              <a:t>One app for your church — to sing together, hear the Word, and grow in faith all week long.</a:t>
            </a:r>
            <a:endParaRPr lang="en-US" sz="1800" dirty="0"/>
          </a:p>
        </p:txBody>
      </p:sp>
      <p:sp>
        <p:nvSpPr>
          <p:cNvPr id="6" name="Text 3"/>
          <p:cNvSpPr txBox="1"/>
          <p:nvPr/>
        </p:nvSpPr>
        <p:spPr>
          <a:xfrm>
            <a:off x="813816" y="6172200"/>
            <a:ext cx="10561320" cy="274320"/>
          </a:xfrm>
          <a:prstGeom prst="rect">
            <a:avLst/>
          </a:prstGeom>
          <a:noFill/>
          <a:ln/>
        </p:spPr>
        <p:txBody>
          <a:bodyPr wrap="square" lIns="0" tIns="0" rIns="0" bIns="0" rtlCol="0" anchor="t"/>
          <a:lstStyle/>
          <a:p>
            <a:pPr indent="0" marL="0">
              <a:buNone/>
            </a:pPr>
            <a:r>
              <a:rPr lang="en-US" sz="1200" i="1" dirty="0">
                <a:solidFill>
                  <a:srgbClr val="C9A227"/>
                </a:solidFill>
                <a:latin typeface="Verdana" pitchFamily="34" charset="0"/>
                <a:ea typeface="Verdana" pitchFamily="34" charset="-122"/>
                <a:cs typeface="Verdana" pitchFamily="34" charset="-120"/>
              </a:rPr>
              <a:t>First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WHAT IS IWORSHIP?</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Songs, Sunday service, and church family — in one app</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iWorship helps a church do three things: sing together, run the Sunday service, and stay connected during the week. It works on a phone, a tablet, or the church laptop.</a:t>
            </a:r>
            <a:endParaRPr lang="en-US" sz="1700" dirty="0"/>
          </a:p>
        </p:txBody>
      </p:sp>
      <p:sp>
        <p:nvSpPr>
          <p:cNvPr id="7" name="Shape 4"/>
          <p:cNvSpPr/>
          <p:nvPr/>
        </p:nvSpPr>
        <p:spPr>
          <a:xfrm>
            <a:off x="813816" y="4114800"/>
            <a:ext cx="3337560" cy="1463040"/>
          </a:xfrm>
          <a:prstGeom prst="roundRect">
            <a:avLst>
              <a:gd name="adj" fmla="val 7500"/>
            </a:avLst>
          </a:prstGeom>
          <a:solidFill>
            <a:srgbClr val="FFFCF3"/>
          </a:solidFill>
          <a:ln w="9525">
            <a:solidFill>
              <a:srgbClr val="EADFC6"/>
            </a:solidFill>
            <a:prstDash val="solid"/>
          </a:ln>
        </p:spPr>
      </p:sp>
      <p:sp>
        <p:nvSpPr>
          <p:cNvPr id="8" name="Text 5"/>
          <p:cNvSpPr txBox="1"/>
          <p:nvPr/>
        </p:nvSpPr>
        <p:spPr>
          <a:xfrm>
            <a:off x="1014984" y="4279392"/>
            <a:ext cx="2935224" cy="1188720"/>
          </a:xfrm>
          <a:prstGeom prst="rect">
            <a:avLst/>
          </a:prstGeom>
          <a:noFill/>
          <a:ln/>
        </p:spPr>
        <p:txBody>
          <a:bodyPr wrap="square" lIns="0" tIns="0" rIns="0" bIns="0" rtlCol="0" anchor="t"/>
          <a:lstStyle/>
          <a:p>
            <a:pPr indent="0" marL="0">
              <a:spcAft>
                <a:spcPts val="400"/>
              </a:spcAft>
              <a:buNone/>
            </a:pPr>
            <a:r>
              <a:rPr lang="en-US" sz="1600" b="1" dirty="0">
                <a:solidFill>
                  <a:srgbClr val="6B1220"/>
                </a:solidFill>
                <a:latin typeface="Georgia" pitchFamily="34" charset="0"/>
                <a:ea typeface="Georgia" pitchFamily="34" charset="-122"/>
                <a:cs typeface="Georgia" pitchFamily="34" charset="-120"/>
              </a:rPr>
              <a:t>Made for the Philippines</a:t>
            </a:r>
            <a:endParaRPr lang="en-US" sz="1600" dirty="0"/>
          </a:p>
          <a:p>
            <a:pPr indent="0" marL="0">
              <a:spcAft>
                <a:spcPts val="400"/>
              </a:spcAft>
              <a:buNone/>
            </a:pPr>
            <a:r>
              <a:rPr lang="en-US" sz="1400" dirty="0">
                <a:solidFill>
                  <a:srgbClr val="4A3428"/>
                </a:solidFill>
                <a:latin typeface="Verdana" pitchFamily="34" charset="0"/>
                <a:ea typeface="Verdana" pitchFamily="34" charset="-122"/>
                <a:cs typeface="Verdana" pitchFamily="34" charset="-120"/>
              </a:rPr>
              <a:t>English and Tagalog Bible, built in.</a:t>
            </a:r>
            <a:endParaRPr lang="en-US" sz="1600" dirty="0"/>
          </a:p>
        </p:txBody>
      </p:sp>
      <p:sp>
        <p:nvSpPr>
          <p:cNvPr id="9" name="Shape 6"/>
          <p:cNvSpPr/>
          <p:nvPr/>
        </p:nvSpPr>
        <p:spPr>
          <a:xfrm>
            <a:off x="4425696" y="4114800"/>
            <a:ext cx="3337560" cy="1463040"/>
          </a:xfrm>
          <a:prstGeom prst="roundRect">
            <a:avLst>
              <a:gd name="adj" fmla="val 7500"/>
            </a:avLst>
          </a:prstGeom>
          <a:solidFill>
            <a:srgbClr val="FFFCF3"/>
          </a:solidFill>
          <a:ln w="9525">
            <a:solidFill>
              <a:srgbClr val="EADFC6"/>
            </a:solidFill>
            <a:prstDash val="solid"/>
          </a:ln>
        </p:spPr>
      </p:sp>
      <p:sp>
        <p:nvSpPr>
          <p:cNvPr id="10" name="Text 7"/>
          <p:cNvSpPr txBox="1"/>
          <p:nvPr/>
        </p:nvSpPr>
        <p:spPr>
          <a:xfrm>
            <a:off x="4626864" y="4279392"/>
            <a:ext cx="2935224" cy="1188720"/>
          </a:xfrm>
          <a:prstGeom prst="rect">
            <a:avLst/>
          </a:prstGeom>
          <a:noFill/>
          <a:ln/>
        </p:spPr>
        <p:txBody>
          <a:bodyPr wrap="square" lIns="0" tIns="0" rIns="0" bIns="0" rtlCol="0" anchor="t"/>
          <a:lstStyle/>
          <a:p>
            <a:pPr indent="0" marL="0">
              <a:spcAft>
                <a:spcPts val="400"/>
              </a:spcAft>
              <a:buNone/>
            </a:pPr>
            <a:r>
              <a:rPr lang="en-US" sz="1600" b="1" dirty="0">
                <a:solidFill>
                  <a:srgbClr val="6B1220"/>
                </a:solidFill>
                <a:latin typeface="Georgia" pitchFamily="34" charset="0"/>
                <a:ea typeface="Georgia" pitchFamily="34" charset="-122"/>
                <a:cs typeface="Georgia" pitchFamily="34" charset="-120"/>
              </a:rPr>
              <a:t>Free to start</a:t>
            </a:r>
            <a:endParaRPr lang="en-US" sz="1600" dirty="0"/>
          </a:p>
          <a:p>
            <a:pPr indent="0" marL="0">
              <a:spcAft>
                <a:spcPts val="400"/>
              </a:spcAft>
              <a:buNone/>
            </a:pPr>
            <a:r>
              <a:rPr lang="en-US" sz="1400" dirty="0">
                <a:solidFill>
                  <a:srgbClr val="4A3428"/>
                </a:solidFill>
                <a:latin typeface="Verdana" pitchFamily="34" charset="0"/>
                <a:ea typeface="Verdana" pitchFamily="34" charset="-122"/>
                <a:cs typeface="Verdana" pitchFamily="34" charset="-120"/>
              </a:rPr>
              <a:t>Sign in and use it right away.</a:t>
            </a:r>
            <a:endParaRPr lang="en-US" sz="1600" dirty="0"/>
          </a:p>
        </p:txBody>
      </p:sp>
      <p:sp>
        <p:nvSpPr>
          <p:cNvPr id="11" name="Shape 8"/>
          <p:cNvSpPr/>
          <p:nvPr/>
        </p:nvSpPr>
        <p:spPr>
          <a:xfrm>
            <a:off x="8037576" y="4114800"/>
            <a:ext cx="3337560" cy="1463040"/>
          </a:xfrm>
          <a:prstGeom prst="roundRect">
            <a:avLst>
              <a:gd name="adj" fmla="val 7500"/>
            </a:avLst>
          </a:prstGeom>
          <a:solidFill>
            <a:srgbClr val="FFFCF3"/>
          </a:solidFill>
          <a:ln w="9525">
            <a:solidFill>
              <a:srgbClr val="EADFC6"/>
            </a:solidFill>
            <a:prstDash val="solid"/>
          </a:ln>
        </p:spPr>
      </p:sp>
      <p:sp>
        <p:nvSpPr>
          <p:cNvPr id="12" name="Text 9"/>
          <p:cNvSpPr txBox="1"/>
          <p:nvPr/>
        </p:nvSpPr>
        <p:spPr>
          <a:xfrm>
            <a:off x="8238744" y="4279392"/>
            <a:ext cx="2935224" cy="1188720"/>
          </a:xfrm>
          <a:prstGeom prst="rect">
            <a:avLst/>
          </a:prstGeom>
          <a:noFill/>
          <a:ln/>
        </p:spPr>
        <p:txBody>
          <a:bodyPr wrap="square" lIns="0" tIns="0" rIns="0" bIns="0" rtlCol="0" anchor="t"/>
          <a:lstStyle/>
          <a:p>
            <a:pPr indent="0" marL="0">
              <a:spcAft>
                <a:spcPts val="400"/>
              </a:spcAft>
              <a:buNone/>
            </a:pPr>
            <a:r>
              <a:rPr lang="en-US" sz="1600" b="1" dirty="0">
                <a:solidFill>
                  <a:srgbClr val="6B1220"/>
                </a:solidFill>
                <a:latin typeface="Georgia" pitchFamily="34" charset="0"/>
                <a:ea typeface="Georgia" pitchFamily="34" charset="-122"/>
                <a:cs typeface="Georgia" pitchFamily="34" charset="-120"/>
              </a:rPr>
              <a:t>Works on any device</a:t>
            </a:r>
            <a:endParaRPr lang="en-US" sz="1600" dirty="0"/>
          </a:p>
          <a:p>
            <a:pPr indent="0" marL="0">
              <a:spcAft>
                <a:spcPts val="400"/>
              </a:spcAft>
              <a:buNone/>
            </a:pPr>
            <a:r>
              <a:rPr lang="en-US" sz="1400" dirty="0">
                <a:solidFill>
                  <a:srgbClr val="4A3428"/>
                </a:solidFill>
                <a:latin typeface="Verdana" pitchFamily="34" charset="0"/>
                <a:ea typeface="Verdana" pitchFamily="34" charset="-122"/>
                <a:cs typeface="Verdana" pitchFamily="34" charset="-120"/>
              </a:rPr>
              <a:t>Phone, tablet, or the church laptop.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A0F1C"/>
        </a:solidFill>
      </p:bgPr>
    </p:bg>
    <p:spTree>
      <p:nvGrpSpPr>
        <p:cNvPr id="1" name=""/>
        <p:cNvGrpSpPr/>
        <p:nvPr/>
      </p:nvGrpSpPr>
      <p:grpSpPr>
        <a:xfrm>
          <a:off x="0" y="0"/>
          <a:ext cx="0" cy="0"/>
          <a:chOff x="0" y="0"/>
          <a:chExt cx="0" cy="0"/>
        </a:xfrm>
      </p:grpSpPr>
      <p:sp>
        <p:nvSpPr>
          <p:cNvPr id="3" name="Text 0"/>
          <p:cNvSpPr txBox="1"/>
          <p:nvPr/>
        </p:nvSpPr>
        <p:spPr>
          <a:xfrm>
            <a:off x="813816" y="1828800"/>
            <a:ext cx="10561320" cy="365760"/>
          </a:xfrm>
          <a:prstGeom prst="rect">
            <a:avLst/>
          </a:prstGeom>
          <a:noFill/>
          <a:ln/>
        </p:spPr>
        <p:txBody>
          <a:bodyPr wrap="square" lIns="0" tIns="0" rIns="0" bIns="0" rtlCol="0" anchor="t"/>
          <a:lstStyle/>
          <a:p>
            <a:pPr indent="0" marL="0">
              <a:buNone/>
            </a:pPr>
            <a:r>
              <a:rPr lang="en-US" sz="1300" b="1" spc="400" kern="0" dirty="0">
                <a:solidFill>
                  <a:srgbClr val="E6C866"/>
                </a:solidFill>
                <a:latin typeface="Verdana" pitchFamily="34" charset="0"/>
                <a:ea typeface="Verdana" pitchFamily="34" charset="-122"/>
                <a:cs typeface="Verdana" pitchFamily="34" charset="-120"/>
              </a:rPr>
              <a:t>READY TODAY</a:t>
            </a:r>
            <a:endParaRPr lang="en-US" sz="1300" dirty="0"/>
          </a:p>
        </p:txBody>
      </p:sp>
      <p:sp>
        <p:nvSpPr>
          <p:cNvPr id="4" name="Text 1"/>
          <p:cNvSpPr txBox="1"/>
          <p:nvPr/>
        </p:nvSpPr>
        <p:spPr>
          <a:xfrm>
            <a:off x="813816" y="2286000"/>
            <a:ext cx="10561320" cy="1371600"/>
          </a:xfrm>
          <a:prstGeom prst="rect">
            <a:avLst/>
          </a:prstGeom>
          <a:noFill/>
          <a:ln/>
        </p:spPr>
        <p:txBody>
          <a:bodyPr wrap="square" lIns="0" tIns="0" rIns="0" bIns="0" rtlCol="0" anchor="t"/>
          <a:lstStyle/>
          <a:p>
            <a:pPr indent="0" marL="0">
              <a:buNone/>
            </a:pPr>
            <a:r>
              <a:rPr lang="en-US" sz="4400" b="1" dirty="0">
                <a:solidFill>
                  <a:srgbClr val="F6EFDD"/>
                </a:solidFill>
                <a:latin typeface="Georgia" pitchFamily="34" charset="0"/>
                <a:ea typeface="Georgia" pitchFamily="34" charset="-122"/>
                <a:cs typeface="Georgia" pitchFamily="34" charset="-120"/>
              </a:rPr>
              <a:t>What’s Already Built</a:t>
            </a:r>
            <a:endParaRPr lang="en-US" sz="4400" dirty="0"/>
          </a:p>
        </p:txBody>
      </p:sp>
      <p:sp>
        <p:nvSpPr>
          <p:cNvPr id="5" name="Text 2"/>
          <p:cNvSpPr txBox="1"/>
          <p:nvPr/>
        </p:nvSpPr>
        <p:spPr>
          <a:xfrm>
            <a:off x="813816" y="3703320"/>
            <a:ext cx="9235440" cy="1280160"/>
          </a:xfrm>
          <a:prstGeom prst="rect">
            <a:avLst/>
          </a:prstGeom>
          <a:noFill/>
          <a:ln/>
        </p:spPr>
        <p:txBody>
          <a:bodyPr wrap="square" lIns="0" tIns="0" rIns="0" bIns="0" rtlCol="0" anchor="t"/>
          <a:lstStyle/>
          <a:p>
            <a:pPr indent="0" marL="0">
              <a:lnSpc>
                <a:spcPct val="130000"/>
              </a:lnSpc>
              <a:buNone/>
            </a:pPr>
            <a:r>
              <a:rPr lang="en-US" sz="1800" dirty="0">
                <a:solidFill>
                  <a:srgbClr val="E8DFC9"/>
                </a:solidFill>
                <a:latin typeface="Verdana" pitchFamily="34" charset="0"/>
                <a:ea typeface="Verdana" pitchFamily="34" charset="-122"/>
                <a:cs typeface="Verdana" pitchFamily="34" charset="-120"/>
              </a:rPr>
              <a:t>Everything in this part works today.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FEATURE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The Hymnal</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Big, easy-to-read lyrics for everyone — and chords for the musicians, in any key.</a:t>
            </a:r>
            <a:endParaRPr lang="en-US" sz="1700" dirty="0"/>
          </a:p>
        </p:txBody>
      </p:sp>
      <p:sp>
        <p:nvSpPr>
          <p:cNvPr id="7" name="Text 4"/>
          <p:cNvSpPr txBox="1"/>
          <p:nvPr/>
        </p:nvSpPr>
        <p:spPr>
          <a:xfrm>
            <a:off x="813816" y="3383280"/>
            <a:ext cx="6345936"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Search by title, number, or theme</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Change the key with one tap</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Save your favorite songs</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Add a song by pasting the lyrics</a:t>
            </a:r>
            <a:endParaRPr lang="en-US" sz="1600" dirty="0"/>
          </a:p>
        </p:txBody>
      </p:sp>
      <p:pic>
        <p:nvPicPr>
          <p:cNvPr id="8"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FEATURE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Run a Worship Service</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Show songs, Bible verses, and sermon slides on the big screen — and on everyone’s phone at the same time.</a:t>
            </a:r>
            <a:endParaRPr lang="en-US" sz="1700" dirty="0"/>
          </a:p>
        </p:txBody>
      </p:sp>
      <p:sp>
        <p:nvSpPr>
          <p:cNvPr id="7" name="Text 4"/>
          <p:cNvSpPr txBox="1"/>
          <p:nvPr/>
        </p:nvSpPr>
        <p:spPr>
          <a:xfrm>
            <a:off x="813816" y="3383280"/>
            <a:ext cx="6345936"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People join by scanning a QR code</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A projector view for the big screen</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Upload your PowerPoint slides</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Live captions, with translation</a:t>
            </a:r>
            <a:endParaRPr lang="en-US" sz="1600" dirty="0"/>
          </a:p>
        </p:txBody>
      </p:sp>
      <p:pic>
        <p:nvPicPr>
          <p:cNvPr id="8"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FEATURE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Fellowship</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A social feed just for your church family — to share news and stay close between Sundays.</a:t>
            </a:r>
            <a:endParaRPr lang="en-US" sz="1700" dirty="0"/>
          </a:p>
        </p:txBody>
      </p:sp>
      <p:sp>
        <p:nvSpPr>
          <p:cNvPr id="7" name="Text 4"/>
          <p:cNvSpPr txBox="1"/>
          <p:nvPr/>
        </p:nvSpPr>
        <p:spPr>
          <a:xfrm>
            <a:off x="813816" y="3383280"/>
            <a:ext cx="6345936"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Share posts, photos, and videos</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Send messages and group chats</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Follow people in your church</a:t>
            </a:r>
            <a:endParaRPr lang="en-US" sz="1600" dirty="0"/>
          </a:p>
        </p:txBody>
      </p:sp>
      <p:pic>
        <p:nvPicPr>
          <p:cNvPr id="8"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FEATURE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Daily Devotionals</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A short reading every morning and evening, from Charles Spurgeon’s Morning and Evening.</a:t>
            </a:r>
            <a:endParaRPr lang="en-US" sz="1700" dirty="0"/>
          </a:p>
        </p:txBody>
      </p:sp>
      <p:sp>
        <p:nvSpPr>
          <p:cNvPr id="7" name="Text 4"/>
          <p:cNvSpPr txBox="1"/>
          <p:nvPr/>
        </p:nvSpPr>
        <p:spPr>
          <a:xfrm>
            <a:off x="813816" y="3383280"/>
            <a:ext cx="6345936"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A new reading every day</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Go to any day of the year</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Share a reading with the church</a:t>
            </a:r>
            <a:endParaRPr lang="en-US" sz="1600" dirty="0"/>
          </a:p>
        </p:txBody>
      </p:sp>
      <p:pic>
        <p:nvPicPr>
          <p:cNvPr id="8"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FEATURE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Spiritual Growth</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A simple guide for anyone who is new to the faith.</a:t>
            </a:r>
            <a:endParaRPr lang="en-US" sz="1700" dirty="0"/>
          </a:p>
        </p:txBody>
      </p:sp>
      <p:sp>
        <p:nvSpPr>
          <p:cNvPr id="7" name="Text 4"/>
          <p:cNvSpPr txBox="1"/>
          <p:nvPr/>
        </p:nvSpPr>
        <p:spPr>
          <a:xfrm>
            <a:off x="813816" y="3383280"/>
            <a:ext cx="6345936"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The gospel, explained simply</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Step-by-step lessons for new believers</a:t>
            </a:r>
            <a:endParaRPr lang="en-US" sz="1600" dirty="0"/>
          </a:p>
          <a:p>
            <a:pPr marL="342900" indent="-342900">
              <a:spcAft>
                <a:spcPts val="1000"/>
              </a:spcAft>
              <a:buSzPct val="100000"/>
              <a:buChar char="•"/>
            </a:pPr>
            <a:r>
              <a:rPr lang="en-US" sz="1600" dirty="0">
                <a:solidFill>
                  <a:srgbClr val="4A3428"/>
                </a:solidFill>
                <a:latin typeface="Verdana" pitchFamily="34" charset="0"/>
                <a:ea typeface="Verdana" pitchFamily="34" charset="-122"/>
                <a:cs typeface="Verdana" pitchFamily="34" charset="-120"/>
              </a:rPr>
              <a:t>A private journal only you can read</a:t>
            </a:r>
            <a:endParaRPr lang="en-US" sz="1600" dirty="0"/>
          </a:p>
        </p:txBody>
      </p:sp>
      <p:pic>
        <p:nvPicPr>
          <p:cNvPr id="8"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SERMONS &amp; TEACHING</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Live Captions &amp; Translation</a:t>
            </a:r>
            <a:endParaRPr lang="en-US" sz="3200" dirty="0"/>
          </a:p>
        </p:txBody>
      </p:sp>
      <p:sp>
        <p:nvSpPr>
          <p:cNvPr id="6" name="Text 3"/>
          <p:cNvSpPr txBox="1"/>
          <p:nvPr/>
        </p:nvSpPr>
        <p:spPr>
          <a:xfrm>
            <a:off x="813816" y="2148840"/>
            <a:ext cx="402336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As the pastor speaks, the words appear on the screen. Turn on translation to show Tagalog and English together.</a:t>
            </a:r>
            <a:endParaRPr lang="en-US" sz="1700" dirty="0"/>
          </a:p>
        </p:txBody>
      </p:sp>
      <p:sp>
        <p:nvSpPr>
          <p:cNvPr id="7" name="Shape 4"/>
          <p:cNvSpPr/>
          <p:nvPr/>
        </p:nvSpPr>
        <p:spPr>
          <a:xfrm>
            <a:off x="813816" y="4206240"/>
            <a:ext cx="4023360" cy="914400"/>
          </a:xfrm>
          <a:prstGeom prst="roundRect">
            <a:avLst>
              <a:gd name="adj" fmla="val 10000"/>
            </a:avLst>
          </a:prstGeom>
          <a:solidFill>
            <a:srgbClr val="E6C866"/>
          </a:solidFill>
          <a:ln w="12700">
            <a:solidFill>
              <a:srgbClr val="E6C866"/>
            </a:solidFill>
            <a:prstDash val="solid"/>
          </a:ln>
        </p:spPr>
      </p:sp>
      <p:sp>
        <p:nvSpPr>
          <p:cNvPr id="8" name="Text 5"/>
          <p:cNvSpPr txBox="1"/>
          <p:nvPr/>
        </p:nvSpPr>
        <p:spPr>
          <a:xfrm>
            <a:off x="1042416" y="4206240"/>
            <a:ext cx="3566160" cy="91440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Everyone can follow — in their own language.</a:t>
            </a:r>
            <a:endParaRPr lang="en-US" sz="1500" dirty="0"/>
          </a:p>
        </p:txBody>
      </p:sp>
      <p:pic>
        <p:nvPicPr>
          <p:cNvPr id="9" name="Image 0" descr="Projector view with a Tagalog caption and English translation">    </p:cNvPr>
          <p:cNvPicPr>
            <a:picLocks noChangeAspect="1"/>
          </p:cNvPicPr>
          <p:nvPr/>
        </p:nvPicPr>
        <p:blipFill>
          <a:blip r:embed="rId1"/>
          <a:stretch>
            <a:fillRect/>
          </a:stretch>
        </p:blipFill>
        <p:spPr>
          <a:xfrm>
            <a:off x="5285232" y="2093976"/>
            <a:ext cx="6099048"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SERMONS &amp; TEACHING</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Sermon Archive</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Pastors can post past sermons. Anyone can read them later, slide by slide — even without an account.</a:t>
            </a:r>
            <a:endParaRPr lang="en-US" sz="1700" dirty="0"/>
          </a:p>
        </p:txBody>
      </p:sp>
      <p:sp>
        <p:nvSpPr>
          <p:cNvPr id="7" name="Shape 4"/>
          <p:cNvSpPr/>
          <p:nvPr/>
        </p:nvSpPr>
        <p:spPr>
          <a:xfrm>
            <a:off x="813816" y="4114800"/>
            <a:ext cx="6025896"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5568696"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A sermon doesn’t end when Sunday does.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PRAYER &amp; SPIRITUAL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Prayer Wall</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Post a prayer request. Others tap “I’m praying” so you know they’re with you. Mark it answered when God answers.</a:t>
            </a:r>
            <a:endParaRPr lang="en-US" sz="1700" dirty="0"/>
          </a:p>
        </p:txBody>
      </p:sp>
      <p:sp>
        <p:nvSpPr>
          <p:cNvPr id="7" name="Shape 4"/>
          <p:cNvSpPr/>
          <p:nvPr/>
        </p:nvSpPr>
        <p:spPr>
          <a:xfrm>
            <a:off x="813816" y="4114800"/>
            <a:ext cx="333298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287578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Nobody prays alone.</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PRAYER &amp; SPIRITUAL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Testimony Wall</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Share what God has done in your life. Others can say “Amen” to celebrate with you.</a:t>
            </a:r>
            <a:endParaRPr lang="en-US" sz="1700" dirty="0"/>
          </a:p>
        </p:txBody>
      </p:sp>
      <p:sp>
        <p:nvSpPr>
          <p:cNvPr id="7" name="Shape 4"/>
          <p:cNvSpPr/>
          <p:nvPr/>
        </p:nvSpPr>
        <p:spPr>
          <a:xfrm>
            <a:off x="813816" y="4114800"/>
            <a:ext cx="475030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429310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One story can encourage many.</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PRAYER &amp; SPIRITUAL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Bible Reading Plan</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Read the whole Bible in one year — in English or Tagalog. Fall behind? Just continue where you stopped.</a:t>
            </a:r>
            <a:endParaRPr lang="en-US" sz="1700" dirty="0"/>
          </a:p>
        </p:txBody>
      </p:sp>
      <p:sp>
        <p:nvSpPr>
          <p:cNvPr id="7" name="Shape 4"/>
          <p:cNvSpPr/>
          <p:nvPr/>
        </p:nvSpPr>
        <p:spPr>
          <a:xfrm>
            <a:off x="813816" y="4114800"/>
            <a:ext cx="4325112"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3867912"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A little each day adds up.</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WORSHIP &amp; MUSIC</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Practice Mode</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Musicians can practice with chords, a metronome, and lyrics that scroll by themselves.</a:t>
            </a:r>
            <a:endParaRPr lang="en-US" sz="1700" dirty="0"/>
          </a:p>
        </p:txBody>
      </p:sp>
      <p:sp>
        <p:nvSpPr>
          <p:cNvPr id="7" name="Shape 4"/>
          <p:cNvSpPr/>
          <p:nvPr/>
        </p:nvSpPr>
        <p:spPr>
          <a:xfrm>
            <a:off x="813816" y="4114800"/>
            <a:ext cx="5600700"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5143500"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A ready team leads with confidence.</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WORSHIP &amp; MUSIC</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Worship Team Schedule</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Leaders assign who serves each Sunday. Each person confirms or declines right in the app.</a:t>
            </a:r>
            <a:endParaRPr lang="en-US" sz="1700" dirty="0"/>
          </a:p>
        </p:txBody>
      </p:sp>
      <p:sp>
        <p:nvSpPr>
          <p:cNvPr id="7" name="Shape 4"/>
          <p:cNvSpPr/>
          <p:nvPr/>
        </p:nvSpPr>
        <p:spPr>
          <a:xfrm>
            <a:off x="813816" y="4114800"/>
            <a:ext cx="616762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571042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No more chasing replies in group chats.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CHURCH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Events Calendar</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See what’s coming up at church — services, fellowships, and outreach.</a:t>
            </a:r>
            <a:endParaRPr lang="en-US" sz="1700" dirty="0"/>
          </a:p>
        </p:txBody>
      </p:sp>
      <p:sp>
        <p:nvSpPr>
          <p:cNvPr id="7" name="Shape 4"/>
          <p:cNvSpPr/>
          <p:nvPr/>
        </p:nvSpPr>
        <p:spPr>
          <a:xfrm>
            <a:off x="813816" y="4114800"/>
            <a:ext cx="404164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358444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Never miss what matters.</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CHURCH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6345936"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Small Groups</a:t>
            </a:r>
            <a:endParaRPr lang="en-US" sz="3200" dirty="0"/>
          </a:p>
        </p:txBody>
      </p:sp>
      <p:sp>
        <p:nvSpPr>
          <p:cNvPr id="6" name="Text 3"/>
          <p:cNvSpPr txBox="1"/>
          <p:nvPr/>
        </p:nvSpPr>
        <p:spPr>
          <a:xfrm>
            <a:off x="813816" y="2148840"/>
            <a:ext cx="6345936"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Find a Bible study or small group. Join with one tap — or start your own.</a:t>
            </a:r>
            <a:endParaRPr lang="en-US" sz="1700" dirty="0"/>
          </a:p>
        </p:txBody>
      </p:sp>
      <p:sp>
        <p:nvSpPr>
          <p:cNvPr id="7" name="Shape 4"/>
          <p:cNvSpPr/>
          <p:nvPr/>
        </p:nvSpPr>
        <p:spPr>
          <a:xfrm>
            <a:off x="813816" y="4114800"/>
            <a:ext cx="5884164"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5426964"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Real growth happens in small circles.</a:t>
            </a:r>
            <a:endParaRPr lang="en-US" sz="1500" dirty="0"/>
          </a:p>
        </p:txBody>
      </p:sp>
      <p:pic>
        <p:nvPicPr>
          <p:cNvPr id="9" name="Image 0" descr="iWorship app screen">    </p:cNvPr>
          <p:cNvPicPr>
            <a:picLocks noChangeAspect="1"/>
          </p:cNvPicPr>
          <p:nvPr/>
        </p:nvPicPr>
        <p:blipFill>
          <a:blip r:embed="rId1"/>
          <a:stretch>
            <a:fillRect/>
          </a:stretch>
        </p:blipFill>
        <p:spPr>
          <a:xfrm>
            <a:off x="8385048" y="758952"/>
            <a:ext cx="2542032" cy="50840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NEW · CHURCH LIFE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Church Directory</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See everyone in your church in one list.</a:t>
            </a:r>
            <a:endParaRPr lang="en-US" sz="1700" dirty="0"/>
          </a:p>
        </p:txBody>
      </p:sp>
      <p:sp>
        <p:nvSpPr>
          <p:cNvPr id="7" name="Shape 4"/>
          <p:cNvSpPr/>
          <p:nvPr/>
        </p:nvSpPr>
        <p:spPr>
          <a:xfrm>
            <a:off x="813816" y="4114800"/>
            <a:ext cx="5175504"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4718304"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Know your church family by name.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5A0F1C"/>
        </a:solidFill>
      </p:bgPr>
    </p:bg>
    <p:spTree>
      <p:nvGrpSpPr>
        <p:cNvPr id="1" name=""/>
        <p:cNvGrpSpPr/>
        <p:nvPr/>
      </p:nvGrpSpPr>
      <p:grpSpPr>
        <a:xfrm>
          <a:off x="0" y="0"/>
          <a:ext cx="0" cy="0"/>
          <a:chOff x="0" y="0"/>
          <a:chExt cx="0" cy="0"/>
        </a:xfrm>
      </p:grpSpPr>
      <p:sp>
        <p:nvSpPr>
          <p:cNvPr id="3" name="Text 0"/>
          <p:cNvSpPr txBox="1"/>
          <p:nvPr/>
        </p:nvSpPr>
        <p:spPr>
          <a:xfrm>
            <a:off x="813816" y="1828800"/>
            <a:ext cx="10561320" cy="365760"/>
          </a:xfrm>
          <a:prstGeom prst="rect">
            <a:avLst/>
          </a:prstGeom>
          <a:noFill/>
          <a:ln/>
        </p:spPr>
        <p:txBody>
          <a:bodyPr wrap="square" lIns="0" tIns="0" rIns="0" bIns="0" rtlCol="0" anchor="t"/>
          <a:lstStyle/>
          <a:p>
            <a:pPr indent="0" marL="0">
              <a:buNone/>
            </a:pPr>
            <a:r>
              <a:rPr lang="en-US" sz="1300" b="1" spc="400" kern="0" dirty="0">
                <a:solidFill>
                  <a:srgbClr val="E6C866"/>
                </a:solidFill>
                <a:latin typeface="Verdana" pitchFamily="34" charset="0"/>
                <a:ea typeface="Verdana" pitchFamily="34" charset="-122"/>
                <a:cs typeface="Verdana" pitchFamily="34" charset="-120"/>
              </a:rPr>
              <a:t>LOOKING AHEAD</a:t>
            </a:r>
            <a:endParaRPr lang="en-US" sz="1300" dirty="0"/>
          </a:p>
        </p:txBody>
      </p:sp>
      <p:sp>
        <p:nvSpPr>
          <p:cNvPr id="4" name="Text 1"/>
          <p:cNvSpPr txBox="1"/>
          <p:nvPr/>
        </p:nvSpPr>
        <p:spPr>
          <a:xfrm>
            <a:off x="813816" y="2286000"/>
            <a:ext cx="10561320" cy="1371600"/>
          </a:xfrm>
          <a:prstGeom prst="rect">
            <a:avLst/>
          </a:prstGeom>
          <a:noFill/>
          <a:ln/>
        </p:spPr>
        <p:txBody>
          <a:bodyPr wrap="square" lIns="0" tIns="0" rIns="0" bIns="0" rtlCol="0" anchor="t"/>
          <a:lstStyle/>
          <a:p>
            <a:pPr indent="0" marL="0">
              <a:buNone/>
            </a:pPr>
            <a:r>
              <a:rPr lang="en-US" sz="4400" b="1" dirty="0">
                <a:solidFill>
                  <a:srgbClr val="F6EFDD"/>
                </a:solidFill>
                <a:latin typeface="Georgia" pitchFamily="34" charset="0"/>
                <a:ea typeface="Georgia" pitchFamily="34" charset="-122"/>
                <a:cs typeface="Georgia" pitchFamily="34" charset="-120"/>
              </a:rPr>
              <a:t>Where We’re Headed</a:t>
            </a:r>
            <a:endParaRPr lang="en-US" sz="4400" dirty="0"/>
          </a:p>
        </p:txBody>
      </p:sp>
      <p:sp>
        <p:nvSpPr>
          <p:cNvPr id="5" name="Text 2"/>
          <p:cNvSpPr txBox="1"/>
          <p:nvPr/>
        </p:nvSpPr>
        <p:spPr>
          <a:xfrm>
            <a:off x="813816" y="3703320"/>
            <a:ext cx="9235440" cy="1280160"/>
          </a:xfrm>
          <a:prstGeom prst="rect">
            <a:avLst/>
          </a:prstGeom>
          <a:noFill/>
          <a:ln/>
        </p:spPr>
        <p:txBody>
          <a:bodyPr wrap="square" lIns="0" tIns="0" rIns="0" bIns="0" rtlCol="0" anchor="t"/>
          <a:lstStyle/>
          <a:p>
            <a:pPr indent="0" marL="0">
              <a:lnSpc>
                <a:spcPct val="130000"/>
              </a:lnSpc>
              <a:buNone/>
            </a:pPr>
            <a:r>
              <a:rPr lang="en-US" sz="1800" dirty="0">
                <a:solidFill>
                  <a:srgbClr val="E8DFC9"/>
                </a:solidFill>
                <a:latin typeface="Verdana" pitchFamily="34" charset="0"/>
                <a:ea typeface="Verdana" pitchFamily="34" charset="-122"/>
                <a:cs typeface="Verdana" pitchFamily="34" charset="-120"/>
              </a:rPr>
              <a:t>Ideas for the future. None of these are built yet.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IDEA · WORSHIP &amp; MUSIC</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Suggest a Song</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Members suggest songs from the hymnal for Sunday. The worship leader still makes the final choice.</a:t>
            </a:r>
            <a:endParaRPr lang="en-US" sz="1700" dirty="0"/>
          </a:p>
        </p:txBody>
      </p:sp>
      <p:sp>
        <p:nvSpPr>
          <p:cNvPr id="7" name="Shape 4"/>
          <p:cNvSpPr/>
          <p:nvPr/>
        </p:nvSpPr>
        <p:spPr>
          <a:xfrm>
            <a:off x="813816" y="4114800"/>
            <a:ext cx="3758184"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3300984"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Everyone gets a voice.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IDEA · REACHING MORE PEOPLE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Full App Translation</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The whole app — every menu and button — in Tagalog, and later Cebuano, Ilocano, and more.</a:t>
            </a:r>
            <a:endParaRPr lang="en-US" sz="1700" dirty="0"/>
          </a:p>
        </p:txBody>
      </p:sp>
      <p:sp>
        <p:nvSpPr>
          <p:cNvPr id="7" name="Shape 4"/>
          <p:cNvSpPr/>
          <p:nvPr/>
        </p:nvSpPr>
        <p:spPr>
          <a:xfrm>
            <a:off x="813816" y="4114800"/>
            <a:ext cx="616762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571042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Faith shouldn’t need a second language.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EFDD"/>
        </a:solidFill>
      </p:bgPr>
    </p:bg>
    <p:spTree>
      <p:nvGrpSpPr>
        <p:cNvPr id="1" name=""/>
        <p:cNvGrpSpPr/>
        <p:nvPr/>
      </p:nvGrpSpPr>
      <p:grpSpPr>
        <a:xfrm>
          <a:off x="0" y="0"/>
          <a:ext cx="0" cy="0"/>
          <a:chOff x="0" y="0"/>
          <a:chExt cx="0" cy="0"/>
        </a:xfrm>
      </p:grpSpPr>
      <p:sp>
        <p:nvSpPr>
          <p:cNvPr id="3" name="Text 0"/>
          <p:cNvSpPr txBox="1"/>
          <p:nvPr/>
        </p:nvSpPr>
        <p:spPr>
          <a:xfrm>
            <a:off x="813816" y="731520"/>
            <a:ext cx="10561320" cy="320040"/>
          </a:xfrm>
          <a:prstGeom prst="rect">
            <a:avLst/>
          </a:prstGeom>
          <a:noFill/>
          <a:ln/>
        </p:spPr>
        <p:txBody>
          <a:bodyPr wrap="square" lIns="0" tIns="0" rIns="0" bIns="0" rtlCol="0" anchor="t"/>
          <a:lstStyle/>
          <a:p>
            <a:pPr indent="0" marL="0">
              <a:buNone/>
            </a:pPr>
            <a:r>
              <a:rPr lang="en-US" sz="1200" b="1" spc="300" kern="0" dirty="0">
                <a:solidFill>
                  <a:srgbClr val="6B1220"/>
                </a:solidFill>
                <a:latin typeface="Verdana" pitchFamily="34" charset="0"/>
                <a:ea typeface="Verdana" pitchFamily="34" charset="-122"/>
                <a:cs typeface="Verdana" pitchFamily="34" charset="-120"/>
              </a:rPr>
              <a:t>IDEA · REACHING MORE PEOPLE</a:t>
            </a:r>
            <a:endParaRPr lang="en-US" sz="1200" dirty="0"/>
          </a:p>
        </p:txBody>
      </p:sp>
      <p:sp>
        <p:nvSpPr>
          <p:cNvPr id="4" name="Text 1"/>
          <p:cNvSpPr txBox="1"/>
          <p:nvPr/>
        </p:nvSpPr>
        <p:spPr>
          <a:xfrm>
            <a:off x="813816" y="6263640"/>
            <a:ext cx="2743200" cy="274320"/>
          </a:xfrm>
          <a:prstGeom prst="rect">
            <a:avLst/>
          </a:prstGeom>
          <a:noFill/>
          <a:ln/>
        </p:spPr>
        <p:txBody>
          <a:bodyPr wrap="square" lIns="0" tIns="0" rIns="0" bIns="0" rtlCol="0" anchor="t"/>
          <a:lstStyle/>
          <a:p>
            <a:pPr indent="0" marL="0">
              <a:buNone/>
            </a:pPr>
            <a:r>
              <a:rPr lang="en-US" sz="1100" b="1" spc="200" kern="0" dirty="0">
                <a:solidFill>
                  <a:srgbClr val="8A6F52"/>
                </a:solidFill>
                <a:latin typeface="Verdana" pitchFamily="34" charset="0"/>
                <a:ea typeface="Verdana" pitchFamily="34" charset="-122"/>
                <a:cs typeface="Verdana" pitchFamily="34" charset="-120"/>
              </a:rPr>
              <a:t>IWORSHIP</a:t>
            </a:r>
            <a:endParaRPr lang="en-US" sz="1100" dirty="0"/>
          </a:p>
        </p:txBody>
      </p:sp>
      <p:sp>
        <p:nvSpPr>
          <p:cNvPr id="5" name="Text 2"/>
          <p:cNvSpPr txBox="1"/>
          <p:nvPr/>
        </p:nvSpPr>
        <p:spPr>
          <a:xfrm>
            <a:off x="813816" y="1143000"/>
            <a:ext cx="10561320" cy="914400"/>
          </a:xfrm>
          <a:prstGeom prst="rect">
            <a:avLst/>
          </a:prstGeom>
          <a:noFill/>
          <a:ln/>
        </p:spPr>
        <p:txBody>
          <a:bodyPr wrap="square" lIns="0" tIns="0" rIns="0" bIns="0" rtlCol="0" anchor="t"/>
          <a:lstStyle/>
          <a:p>
            <a:pPr indent="0" marL="0">
              <a:buNone/>
            </a:pPr>
            <a:r>
              <a:rPr lang="en-US" sz="3200" b="1" dirty="0">
                <a:solidFill>
                  <a:srgbClr val="4A0D18"/>
                </a:solidFill>
                <a:latin typeface="Georgia" pitchFamily="34" charset="0"/>
                <a:ea typeface="Georgia" pitchFamily="34" charset="-122"/>
                <a:cs typeface="Georgia" pitchFamily="34" charset="-120"/>
              </a:rPr>
              <a:t>Kids Ministry Mode</a:t>
            </a:r>
            <a:endParaRPr lang="en-US" sz="3200" dirty="0"/>
          </a:p>
        </p:txBody>
      </p:sp>
      <p:sp>
        <p:nvSpPr>
          <p:cNvPr id="6" name="Text 3"/>
          <p:cNvSpPr txBox="1"/>
          <p:nvPr/>
        </p:nvSpPr>
        <p:spPr>
          <a:xfrm>
            <a:off x="813816" y="2148840"/>
            <a:ext cx="10561320" cy="1737360"/>
          </a:xfrm>
          <a:prstGeom prst="rect">
            <a:avLst/>
          </a:prstGeom>
          <a:noFill/>
          <a:ln/>
        </p:spPr>
        <p:txBody>
          <a:bodyPr wrap="square" lIns="0" tIns="0" rIns="0" bIns="0" rtlCol="0" anchor="t"/>
          <a:lstStyle/>
          <a:p>
            <a:pPr indent="0" marL="0">
              <a:lnSpc>
                <a:spcPct val="135000"/>
              </a:lnSpc>
              <a:buNone/>
            </a:pPr>
            <a:r>
              <a:rPr lang="en-US" sz="1700" dirty="0">
                <a:solidFill>
                  <a:srgbClr val="4A3428"/>
                </a:solidFill>
                <a:latin typeface="Verdana" pitchFamily="34" charset="0"/>
                <a:ea typeface="Verdana" pitchFamily="34" charset="-122"/>
                <a:cs typeface="Verdana" pitchFamily="34" charset="-120"/>
              </a:rPr>
              <a:t>A simpler view for children’s church: big buttons and kid-friendly songs.</a:t>
            </a:r>
            <a:endParaRPr lang="en-US" sz="1700" dirty="0"/>
          </a:p>
        </p:txBody>
      </p:sp>
      <p:sp>
        <p:nvSpPr>
          <p:cNvPr id="7" name="Shape 4"/>
          <p:cNvSpPr/>
          <p:nvPr/>
        </p:nvSpPr>
        <p:spPr>
          <a:xfrm>
            <a:off x="813816" y="4114800"/>
            <a:ext cx="3332988" cy="640080"/>
          </a:xfrm>
          <a:prstGeom prst="roundRect">
            <a:avLst>
              <a:gd name="adj" fmla="val 14286"/>
            </a:avLst>
          </a:prstGeom>
          <a:solidFill>
            <a:srgbClr val="E6C866"/>
          </a:solidFill>
          <a:ln w="12700">
            <a:solidFill>
              <a:srgbClr val="E6C866"/>
            </a:solidFill>
            <a:prstDash val="solid"/>
          </a:ln>
        </p:spPr>
      </p:sp>
      <p:sp>
        <p:nvSpPr>
          <p:cNvPr id="8" name="Text 5"/>
          <p:cNvSpPr txBox="1"/>
          <p:nvPr/>
        </p:nvSpPr>
        <p:spPr>
          <a:xfrm>
            <a:off x="1042416" y="4114800"/>
            <a:ext cx="2875788" cy="640080"/>
          </a:xfrm>
          <a:prstGeom prst="rect">
            <a:avLst/>
          </a:prstGeom>
          <a:noFill/>
          <a:ln/>
        </p:spPr>
        <p:txBody>
          <a:bodyPr wrap="square" lIns="0" tIns="0" rIns="0" bIns="0" rtlCol="0" anchor="ctr"/>
          <a:lstStyle/>
          <a:p>
            <a:pPr indent="0" marL="0">
              <a:buNone/>
            </a:pPr>
            <a:r>
              <a:rPr lang="en-US" sz="1500" b="1" dirty="0">
                <a:solidFill>
                  <a:srgbClr val="4A0D18"/>
                </a:solidFill>
                <a:latin typeface="Verdana" pitchFamily="34" charset="0"/>
                <a:ea typeface="Verdana" pitchFamily="34" charset="-122"/>
                <a:cs typeface="Verdana" pitchFamily="34" charset="-120"/>
              </a:rPr>
              <a:t>Faith starts young.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0F1C"/>
        </a:solidFill>
      </p:bgPr>
    </p:bg>
    <p:spTree>
      <p:nvGrpSpPr>
        <p:cNvPr id="1" name=""/>
        <p:cNvGrpSpPr/>
        <p:nvPr/>
      </p:nvGrpSpPr>
      <p:grpSpPr>
        <a:xfrm>
          <a:off x="0" y="0"/>
          <a:ext cx="0" cy="0"/>
          <a:chOff x="0" y="0"/>
          <a:chExt cx="0" cy="0"/>
        </a:xfrm>
      </p:grpSpPr>
      <p:sp>
        <p:nvSpPr>
          <p:cNvPr id="3" name="Text 0"/>
          <p:cNvSpPr txBox="1"/>
          <p:nvPr/>
        </p:nvSpPr>
        <p:spPr>
          <a:xfrm>
            <a:off x="813816" y="1828800"/>
            <a:ext cx="10561320" cy="365760"/>
          </a:xfrm>
          <a:prstGeom prst="rect">
            <a:avLst/>
          </a:prstGeom>
          <a:noFill/>
          <a:ln/>
        </p:spPr>
        <p:txBody>
          <a:bodyPr wrap="square" lIns="0" tIns="0" rIns="0" bIns="0" rtlCol="0" anchor="t"/>
          <a:lstStyle/>
          <a:p>
            <a:pPr indent="0" marL="0">
              <a:buNone/>
            </a:pPr>
            <a:r>
              <a:rPr lang="en-US" sz="1300" b="1" spc="400" kern="0" dirty="0">
                <a:solidFill>
                  <a:srgbClr val="E6C866"/>
                </a:solidFill>
                <a:latin typeface="Verdana" pitchFamily="34" charset="0"/>
                <a:ea typeface="Verdana" pitchFamily="34" charset="-122"/>
                <a:cs typeface="Verdana" pitchFamily="34" charset="-120"/>
              </a:rPr>
              <a:t>LET’S BEGIN</a:t>
            </a:r>
            <a:endParaRPr lang="en-US" sz="1300" dirty="0"/>
          </a:p>
        </p:txBody>
      </p:sp>
      <p:sp>
        <p:nvSpPr>
          <p:cNvPr id="4" name="Text 1"/>
          <p:cNvSpPr txBox="1"/>
          <p:nvPr/>
        </p:nvSpPr>
        <p:spPr>
          <a:xfrm>
            <a:off x="813816" y="2286000"/>
            <a:ext cx="10561320" cy="1371600"/>
          </a:xfrm>
          <a:prstGeom prst="rect">
            <a:avLst/>
          </a:prstGeom>
          <a:noFill/>
          <a:ln/>
        </p:spPr>
        <p:txBody>
          <a:bodyPr wrap="square" lIns="0" tIns="0" rIns="0" bIns="0" rtlCol="0" anchor="t"/>
          <a:lstStyle/>
          <a:p>
            <a:pPr indent="0" marL="0">
              <a:buNone/>
            </a:pPr>
            <a:r>
              <a:rPr lang="en-US" sz="4400" b="1" dirty="0">
                <a:solidFill>
                  <a:srgbClr val="F6EFDD"/>
                </a:solidFill>
                <a:latin typeface="Georgia" pitchFamily="34" charset="0"/>
                <a:ea typeface="Georgia" pitchFamily="34" charset="-122"/>
                <a:cs typeface="Georgia" pitchFamily="34" charset="-120"/>
              </a:rPr>
              <a:t>This Is Only the Beginning</a:t>
            </a:r>
            <a:endParaRPr lang="en-US" sz="4400" dirty="0"/>
          </a:p>
        </p:txBody>
      </p:sp>
      <p:sp>
        <p:nvSpPr>
          <p:cNvPr id="5" name="Text 2"/>
          <p:cNvSpPr txBox="1"/>
          <p:nvPr/>
        </p:nvSpPr>
        <p:spPr>
          <a:xfrm>
            <a:off x="813816" y="3703320"/>
            <a:ext cx="9235440" cy="1280160"/>
          </a:xfrm>
          <a:prstGeom prst="rect">
            <a:avLst/>
          </a:prstGeom>
          <a:noFill/>
          <a:ln/>
        </p:spPr>
        <p:txBody>
          <a:bodyPr wrap="square" lIns="0" tIns="0" rIns="0" bIns="0" rtlCol="0" anchor="t"/>
          <a:lstStyle/>
          <a:p>
            <a:pPr indent="0" marL="0">
              <a:lnSpc>
                <a:spcPct val="130000"/>
              </a:lnSpc>
              <a:buNone/>
            </a:pPr>
            <a:r>
              <a:rPr lang="en-US" sz="1800" dirty="0">
                <a:solidFill>
                  <a:srgbClr val="E8DFC9"/>
                </a:solidFill>
                <a:latin typeface="Verdana" pitchFamily="34" charset="0"/>
                <a:ea typeface="Verdana" pitchFamily="34" charset="-122"/>
                <a:cs typeface="Verdana" pitchFamily="34" charset="-120"/>
              </a:rPr>
              <a:t>Everything you saw today is ready to use. Thank you for taking this first step with iWorship!</a:t>
            </a:r>
            <a:endParaRPr lang="en-US" sz="1800" dirty="0"/>
          </a:p>
        </p:txBody>
      </p:sp>
      <p:sp>
        <p:nvSpPr>
          <p:cNvPr id="6" name="Text 3"/>
          <p:cNvSpPr txBox="1"/>
          <p:nvPr/>
        </p:nvSpPr>
        <p:spPr>
          <a:xfrm>
            <a:off x="813816" y="6172200"/>
            <a:ext cx="10561320" cy="274320"/>
          </a:xfrm>
          <a:prstGeom prst="rect">
            <a:avLst/>
          </a:prstGeom>
          <a:noFill/>
          <a:ln/>
        </p:spPr>
        <p:txBody>
          <a:bodyPr wrap="square" lIns="0" tIns="0" rIns="0" bIns="0" rtlCol="0" anchor="t"/>
          <a:lstStyle/>
          <a:p>
            <a:pPr indent="0" marL="0">
              <a:buNone/>
            </a:pPr>
            <a:r>
              <a:rPr lang="en-US" sz="1200" i="1" dirty="0">
                <a:solidFill>
                  <a:srgbClr val="C9A227"/>
                </a:solidFill>
                <a:latin typeface="Verdana" pitchFamily="34" charset="0"/>
                <a:ea typeface="Verdana" pitchFamily="34" charset="-122"/>
                <a:cs typeface="Verdana" pitchFamily="34" charset="-120"/>
              </a:rPr>
              <a:t>iWorship — songs, service, and church family, in one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iWorship</dc:title>
  <dc:subject>PptxGenJS Presentation</dc:subject>
  <dc:creator>PptxGenJS</dc:creator>
  <cp:lastModifiedBy>PptxGenJS</cp:lastModifiedBy>
  <cp:revision>1</cp:revision>
  <dcterms:created xsi:type="dcterms:W3CDTF">2026-10-02T16:05:00Z</dcterms:created>
  <dcterms:modified xsi:type="dcterms:W3CDTF">2026-10-02T16:05:00Z</dcterms:modified>
</cp:coreProperties>
</file>